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333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67"/>
    <p:restoredTop sz="85261"/>
  </p:normalViewPr>
  <p:slideViewPr>
    <p:cSldViewPr snapToGrid="0" snapToObjects="1">
      <p:cViewPr varScale="1">
        <p:scale>
          <a:sx n="191" d="100"/>
          <a:sy n="191" d="100"/>
        </p:scale>
        <p:origin x="220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035C7-1B5C-CE29-0715-13285C41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026A5-CDC5-3A57-87EA-7EAC35EFC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F19C0-8600-6E9E-78B5-6505389A2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E4E96-5F75-0FFB-8ECF-8EE6F1CC5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44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84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50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gnoevoy/spacex-capstone-project/blob/main/data/processed/dataset_part_1.csv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noevoy/spacex-capstone-project/blob/main/data/processed/spacex_web_scraped.csv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noevoy/spacex-capstone-project/blob/main/data/processed/dataset_part_2.csv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noevoy/spacex-capstone-project/blob/main/notebooks/05_EDA_dataviz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noevoy/spacex-capstone-project/blob/main/notebooks/04_EDA_sql_coursera_sqllite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noevoy/spacex-capstone-project/blob/main/notebooks/06_Launch_site_location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noevoy/spacex-capstone-project/blob/main/dashboard/07_spacex_dash_app.p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Gnoevoy Alexey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xx.08.2026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context</a:t>
            </a: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answers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500C-EC18-FC06-F797-34BB56B2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2E52C-8E60-316D-802C-8457F250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A11679-D128-A0CE-0F1F-6D11FF1BDDCA}"/>
              </a:ext>
            </a:extLst>
          </p:cNvPr>
          <p:cNvSpPr txBox="1">
            <a:spLocks/>
          </p:cNvSpPr>
          <p:nvPr/>
        </p:nvSpPr>
        <p:spPr>
          <a:xfrm>
            <a:off x="770011" y="1215334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</a:t>
            </a:r>
            <a:b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</a:b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SpaceX REST API and Wikipedia web scraping.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Wrangling</a:t>
            </a:r>
            <a:b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</a:b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cleaning, missing value handling, landing outcome classification, feature engineering.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Exploratory Data Analysis</a:t>
            </a:r>
            <a:b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</a:b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Pandas visualization and SQL queries to explore launch, payload, orbit, site and landing patterns.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Interactive Visual Analytics</a:t>
            </a:r>
            <a:b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</a:b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Folium maps for launch site analysis and </a:t>
            </a:r>
            <a:r>
              <a:rPr lang="en-US" sz="20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Dash for interactive filtering.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Predictive Analysis</a:t>
            </a:r>
            <a:b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</a:b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Logistic Regression, SVM, Decision Tree and KNN with </a:t>
            </a:r>
            <a:r>
              <a:rPr lang="en-US" sz="20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GridSearchCV</a:t>
            </a: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and test-set evaluation.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Objective: </a:t>
            </a: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identify key factors associated with successful Falcon 9 first-stage landing and evaluate whether landing success can be predicted.</a:t>
            </a: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8914979-4586-135F-DA93-0F045724149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90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96842" y="1595978"/>
            <a:ext cx="232026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SpaceX REST API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923C8587-1481-98D3-030A-4279FBEA05E0}"/>
              </a:ext>
            </a:extLst>
          </p:cNvPr>
          <p:cNvSpPr txBox="1">
            <a:spLocks/>
          </p:cNvSpPr>
          <p:nvPr/>
        </p:nvSpPr>
        <p:spPr>
          <a:xfrm>
            <a:off x="2296841" y="2289546"/>
            <a:ext cx="2320261" cy="7540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API</a:t>
            </a:r>
            <a:r>
              <a:rPr lang="ru-RU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response  / static JSON snapshot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1961F77-63CD-253D-6472-1BA5035F2457}"/>
              </a:ext>
            </a:extLst>
          </p:cNvPr>
          <p:cNvSpPr txBox="1">
            <a:spLocks/>
          </p:cNvSpPr>
          <p:nvPr/>
        </p:nvSpPr>
        <p:spPr>
          <a:xfrm>
            <a:off x="2296842" y="3345634"/>
            <a:ext cx="232026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Pandas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3D40E765-31FA-04EF-4F7F-E5DFD433C0A2}"/>
              </a:ext>
            </a:extLst>
          </p:cNvPr>
          <p:cNvSpPr txBox="1">
            <a:spLocks/>
          </p:cNvSpPr>
          <p:nvPr/>
        </p:nvSpPr>
        <p:spPr>
          <a:xfrm>
            <a:off x="2296842" y="4025315"/>
            <a:ext cx="2320261" cy="7540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Structured launch data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3D38236-9557-9BA4-531F-70ADF7CA333D}"/>
              </a:ext>
            </a:extLst>
          </p:cNvPr>
          <p:cNvSpPr txBox="1">
            <a:spLocks/>
          </p:cNvSpPr>
          <p:nvPr/>
        </p:nvSpPr>
        <p:spPr>
          <a:xfrm>
            <a:off x="6327099" y="1595978"/>
            <a:ext cx="232026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Wikipedia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650DB7F-60AE-E0C3-F110-7CEDBD4E86EA}"/>
              </a:ext>
            </a:extLst>
          </p:cNvPr>
          <p:cNvSpPr txBox="1">
            <a:spLocks/>
          </p:cNvSpPr>
          <p:nvPr/>
        </p:nvSpPr>
        <p:spPr>
          <a:xfrm>
            <a:off x="6327098" y="2275659"/>
            <a:ext cx="2320261" cy="7679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HTML Table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FB70DC34-6AFE-9E7B-ED5B-75DF4E71E974}"/>
              </a:ext>
            </a:extLst>
          </p:cNvPr>
          <p:cNvSpPr txBox="1">
            <a:spLocks/>
          </p:cNvSpPr>
          <p:nvPr/>
        </p:nvSpPr>
        <p:spPr>
          <a:xfrm>
            <a:off x="6327098" y="3340693"/>
            <a:ext cx="232026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BeautifulSoup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23688F-4FF2-8349-398D-DA7F54824ACF}"/>
              </a:ext>
            </a:extLst>
          </p:cNvPr>
          <p:cNvSpPr txBox="1">
            <a:spLocks/>
          </p:cNvSpPr>
          <p:nvPr/>
        </p:nvSpPr>
        <p:spPr>
          <a:xfrm>
            <a:off x="6327097" y="4025315"/>
            <a:ext cx="2320261" cy="7540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Scraped launch data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591416C9-0A5A-EABD-A9DD-7D2F490809DF}"/>
              </a:ext>
            </a:extLst>
          </p:cNvPr>
          <p:cNvSpPr txBox="1">
            <a:spLocks/>
          </p:cNvSpPr>
          <p:nvPr/>
        </p:nvSpPr>
        <p:spPr>
          <a:xfrm>
            <a:off x="4250900" y="5262022"/>
            <a:ext cx="2320261" cy="39029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 Wrangling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466373-9F3F-E18C-089B-E626852220FB}"/>
              </a:ext>
            </a:extLst>
          </p:cNvPr>
          <p:cNvCxnSpPr>
            <a:cxnSpLocks/>
            <a:stCxn id="5" idx="2"/>
            <a:endCxn id="2" idx="0"/>
          </p:cNvCxnSpPr>
          <p:nvPr/>
        </p:nvCxnSpPr>
        <p:spPr>
          <a:xfrm flipH="1">
            <a:off x="3456972" y="1986271"/>
            <a:ext cx="1" cy="303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11EAAB-FC1B-CB4F-346C-F0838C7C26C4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3456972" y="3043599"/>
            <a:ext cx="1" cy="302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632790-3B87-9E3A-96C0-95182D683573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3456973" y="3735927"/>
            <a:ext cx="0" cy="289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DDB5C954-7D13-1A2B-C178-C6782909C147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rot="16200000" flipH="1">
            <a:off x="4192675" y="4043666"/>
            <a:ext cx="482654" cy="19540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0E6AE38F-C89B-1A7E-532B-C2014BC23F1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7342536" y="2130965"/>
            <a:ext cx="28938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8D4D3B-4C4A-5385-A405-F9BC666D87A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7487229" y="3043599"/>
            <a:ext cx="0" cy="297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9EAE699-D701-4820-8E79-B1FF9B5349D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7487228" y="3730986"/>
            <a:ext cx="1" cy="294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74A990F9-97E0-1B74-CEC7-467364237CE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6207803" y="3982597"/>
            <a:ext cx="482654" cy="20761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809F019-F122-2C30-6449-79C7B2F97D5B}"/>
              </a:ext>
            </a:extLst>
          </p:cNvPr>
          <p:cNvSpPr txBox="1">
            <a:spLocks/>
          </p:cNvSpPr>
          <p:nvPr/>
        </p:nvSpPr>
        <p:spPr>
          <a:xfrm>
            <a:off x="2296842" y="5707665"/>
            <a:ext cx="6350516" cy="549049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Two independent data collection methods were used to build and complement the Falcon 9 launch dataset.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BABD2A7-B681-EC5C-652C-CB3A54D9078A}"/>
              </a:ext>
            </a:extLst>
          </p:cNvPr>
          <p:cNvSpPr txBox="1">
            <a:spLocks/>
          </p:cNvSpPr>
          <p:nvPr/>
        </p:nvSpPr>
        <p:spPr>
          <a:xfrm>
            <a:off x="1402464" y="1508646"/>
            <a:ext cx="4317539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SpaceX API endpoint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3C9A5B7-1E61-E50C-D1DA-3CD45ABA23C0}"/>
              </a:ext>
            </a:extLst>
          </p:cNvPr>
          <p:cNvSpPr txBox="1">
            <a:spLocks/>
          </p:cNvSpPr>
          <p:nvPr/>
        </p:nvSpPr>
        <p:spPr>
          <a:xfrm>
            <a:off x="1402463" y="2051723"/>
            <a:ext cx="4317540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Live request attempted 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9E226DE-4658-4AB1-EF6B-E9667CB8D36E}"/>
              </a:ext>
            </a:extLst>
          </p:cNvPr>
          <p:cNvSpPr txBox="1">
            <a:spLocks/>
          </p:cNvSpPr>
          <p:nvPr/>
        </p:nvSpPr>
        <p:spPr>
          <a:xfrm>
            <a:off x="1402461" y="2602460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Cloudflare 525 / API unavailable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04CF288-A0AD-1B2C-A7D8-945CF6ED1AB7}"/>
              </a:ext>
            </a:extLst>
          </p:cNvPr>
          <p:cNvSpPr txBox="1">
            <a:spLocks/>
          </p:cNvSpPr>
          <p:nvPr/>
        </p:nvSpPr>
        <p:spPr>
          <a:xfrm>
            <a:off x="1402461" y="3123758"/>
            <a:ext cx="4317541" cy="6826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IBM-hosted static JSON snapshot</a:t>
            </a:r>
            <a:b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</a:b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of the SpaceX API response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A8552082-981D-E498-82F7-5091B297EC68}"/>
              </a:ext>
            </a:extLst>
          </p:cNvPr>
          <p:cNvSpPr txBox="1">
            <a:spLocks/>
          </p:cNvSpPr>
          <p:nvPr/>
        </p:nvSpPr>
        <p:spPr>
          <a:xfrm>
            <a:off x="1402461" y="3940934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JSON -&gt; Pandas </a:t>
            </a: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DataFrame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6C4DE43E-3931-20EB-22D2-18E7989559A9}"/>
              </a:ext>
            </a:extLst>
          </p:cNvPr>
          <p:cNvSpPr txBox="1">
            <a:spLocks/>
          </p:cNvSpPr>
          <p:nvPr/>
        </p:nvSpPr>
        <p:spPr>
          <a:xfrm>
            <a:off x="1402463" y="4488112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Falcon 9 filtering &amp; feature extraction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68F831D-EE1C-301D-50E4-218A7747AE4D}"/>
              </a:ext>
            </a:extLst>
          </p:cNvPr>
          <p:cNvSpPr txBox="1">
            <a:spLocks/>
          </p:cNvSpPr>
          <p:nvPr/>
        </p:nvSpPr>
        <p:spPr>
          <a:xfrm>
            <a:off x="1402462" y="5009410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90 launches x 17 features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91D32649-B532-4CC2-F75A-B8936C52FF3E}"/>
              </a:ext>
            </a:extLst>
          </p:cNvPr>
          <p:cNvSpPr txBox="1">
            <a:spLocks/>
          </p:cNvSpPr>
          <p:nvPr/>
        </p:nvSpPr>
        <p:spPr>
          <a:xfrm>
            <a:off x="1402462" y="5530708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Dataset_part_1.csv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54317A-CEBC-8C36-D5F4-DFCE2E3ECE35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3561233" y="1898939"/>
            <a:ext cx="1" cy="1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8EB3CD-B0C9-072E-993D-1DF4843558A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561232" y="2442016"/>
            <a:ext cx="1" cy="160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6CEBB3-2278-DCA4-96A5-92223073EC3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3561232" y="2992753"/>
            <a:ext cx="0" cy="131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8B7049-29F8-E1DC-AA83-3DD4F57994B1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3561232" y="3806370"/>
            <a:ext cx="0" cy="134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69BCEB-B575-2161-CF18-6E7C186852DB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561232" y="4331227"/>
            <a:ext cx="2" cy="156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71B1599-69BE-7145-59A8-52FE1EA5AD07}"/>
              </a:ext>
            </a:extLst>
          </p:cNvPr>
          <p:cNvSpPr txBox="1">
            <a:spLocks/>
          </p:cNvSpPr>
          <p:nvPr/>
        </p:nvSpPr>
        <p:spPr>
          <a:xfrm>
            <a:off x="1402461" y="6077886"/>
            <a:ext cx="8575846" cy="549049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Fallback used</a:t>
            </a: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: the live SpaceX API returned a </a:t>
            </a:r>
            <a:r>
              <a:rPr lang="en-US" sz="20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Cloudfare</a:t>
            </a:r>
            <a:r>
              <a:rPr lang="en-US" sz="20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525 error, so the IBM-provided static snapshot of the API response was used to ensure reproducible analysis.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3F0CB7B-D913-027A-14BA-7F582A205A4F}"/>
              </a:ext>
            </a:extLst>
          </p:cNvPr>
          <p:cNvSpPr txBox="1">
            <a:spLocks/>
          </p:cNvSpPr>
          <p:nvPr/>
        </p:nvSpPr>
        <p:spPr>
          <a:xfrm>
            <a:off x="7194109" y="4586449"/>
            <a:ext cx="4263863" cy="549049"/>
          </a:xfrm>
          <a:prstGeom prst="rect">
            <a:avLst/>
          </a:prstGeom>
        </p:spPr>
        <p:txBody>
          <a:bodyPr lIns="91440" tIns="45720" rIns="91440" bIns="4572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GitHub: </a:t>
            </a: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  <a:hlinkClick r:id="rId4"/>
              </a:rPr>
              <a:t>https://github.com/agnoevoy/spacex-capstone-project/blob/main/data/processed/dataset_part_1.csv</a:t>
            </a: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0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33AE08-ED1A-BF28-26E0-55C5A74E8B8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561233" y="4878405"/>
            <a:ext cx="1" cy="131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A9FD11-AF98-3855-6A78-2E5A5383B77D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561233" y="5399703"/>
            <a:ext cx="0" cy="131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8EFB5F-7CBA-3A65-8D70-6E563C93F540}"/>
              </a:ext>
            </a:extLst>
          </p:cNvPr>
          <p:cNvSpPr txBox="1">
            <a:spLocks/>
          </p:cNvSpPr>
          <p:nvPr/>
        </p:nvSpPr>
        <p:spPr>
          <a:xfrm>
            <a:off x="1402464" y="1508646"/>
            <a:ext cx="4317539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Archived Wikipedia page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3B03BAAA-B7FC-2DF2-BF51-88DF3EA59C2A}"/>
              </a:ext>
            </a:extLst>
          </p:cNvPr>
          <p:cNvSpPr txBox="1">
            <a:spLocks/>
          </p:cNvSpPr>
          <p:nvPr/>
        </p:nvSpPr>
        <p:spPr>
          <a:xfrm>
            <a:off x="1402463" y="2051723"/>
            <a:ext cx="4317540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HTTP request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B870D2E-EDB5-F1D9-C016-DB0460ED4555}"/>
              </a:ext>
            </a:extLst>
          </p:cNvPr>
          <p:cNvSpPr txBox="1">
            <a:spLocks/>
          </p:cNvSpPr>
          <p:nvPr/>
        </p:nvSpPr>
        <p:spPr>
          <a:xfrm>
            <a:off x="1402461" y="2602460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BeautifulSoup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7DB18B7-F79F-413D-49CB-A6A6FA683566}"/>
              </a:ext>
            </a:extLst>
          </p:cNvPr>
          <p:cNvSpPr txBox="1">
            <a:spLocks/>
          </p:cNvSpPr>
          <p:nvPr/>
        </p:nvSpPr>
        <p:spPr>
          <a:xfrm>
            <a:off x="1402461" y="3148135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Locate Falcon 9 launch table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A6D36613-2EA0-6C58-C89E-FC2307609BE7}"/>
              </a:ext>
            </a:extLst>
          </p:cNvPr>
          <p:cNvSpPr txBox="1">
            <a:spLocks/>
          </p:cNvSpPr>
          <p:nvPr/>
        </p:nvSpPr>
        <p:spPr>
          <a:xfrm>
            <a:off x="1402461" y="3696274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Parse rows &amp; columns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95A4C61-B868-F82D-3A83-67DD7818F116}"/>
              </a:ext>
            </a:extLst>
          </p:cNvPr>
          <p:cNvSpPr txBox="1">
            <a:spLocks/>
          </p:cNvSpPr>
          <p:nvPr/>
        </p:nvSpPr>
        <p:spPr>
          <a:xfrm>
            <a:off x="1402460" y="4244413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Build Pandas </a:t>
            </a: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DataFrame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2FDBF71A-39A7-7BF0-846A-D8B66CB03270}"/>
              </a:ext>
            </a:extLst>
          </p:cNvPr>
          <p:cNvSpPr txBox="1">
            <a:spLocks/>
          </p:cNvSpPr>
          <p:nvPr/>
        </p:nvSpPr>
        <p:spPr>
          <a:xfrm>
            <a:off x="1402460" y="4787490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121 launches x 11 features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A028C5C7-1B54-5E60-5406-2EA6638DC507}"/>
              </a:ext>
            </a:extLst>
          </p:cNvPr>
          <p:cNvSpPr txBox="1">
            <a:spLocks/>
          </p:cNvSpPr>
          <p:nvPr/>
        </p:nvSpPr>
        <p:spPr>
          <a:xfrm>
            <a:off x="1402460" y="5330567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</a:t>
            </a: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pacex_web_scraped.csv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0BB9B1-0612-6E6A-EBBE-1A8B8E1FD3C4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3561233" y="1898939"/>
            <a:ext cx="1" cy="1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B66A2C-C465-601C-505F-441BAE8037C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561232" y="2442016"/>
            <a:ext cx="1" cy="160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06BD68-BA00-1B80-1F7A-C6FBBAA0B08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3561232" y="2992753"/>
            <a:ext cx="0" cy="155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33EF45-9948-0808-59DC-A109099570DC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3561232" y="3538428"/>
            <a:ext cx="0" cy="15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DAA8F7-E4BE-6890-4838-FC9CC6E6E9C6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3561231" y="4086567"/>
            <a:ext cx="1" cy="15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A87EE7-13AB-40E7-5917-9C733606552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561231" y="4634706"/>
            <a:ext cx="0" cy="1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E0D2B34-7E35-6B19-3E24-BEE3437C3933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561231" y="5119305"/>
            <a:ext cx="0" cy="211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5BB0295B-8022-C70D-0759-7D947A7CEB76}"/>
              </a:ext>
            </a:extLst>
          </p:cNvPr>
          <p:cNvSpPr txBox="1">
            <a:spLocks/>
          </p:cNvSpPr>
          <p:nvPr/>
        </p:nvSpPr>
        <p:spPr>
          <a:xfrm>
            <a:off x="1402460" y="5993693"/>
            <a:ext cx="8575846" cy="549049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Web scraping provided an additional historical source of Falcon 9 launch data, including booster version information used for further analysis.</a:t>
            </a:r>
            <a:endParaRPr lang="en-US" sz="20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25468A3D-09A9-33BE-ED1F-FD991A540840}"/>
              </a:ext>
            </a:extLst>
          </p:cNvPr>
          <p:cNvSpPr txBox="1">
            <a:spLocks/>
          </p:cNvSpPr>
          <p:nvPr/>
        </p:nvSpPr>
        <p:spPr>
          <a:xfrm>
            <a:off x="7194109" y="4586449"/>
            <a:ext cx="4263863" cy="549049"/>
          </a:xfrm>
          <a:prstGeom prst="rect">
            <a:avLst/>
          </a:prstGeom>
        </p:spPr>
        <p:txBody>
          <a:bodyPr lIns="91440" tIns="45720" rIns="91440" bIns="4572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GitHub: </a:t>
            </a: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https://github.com/agnoevoy/spacex-capstone-project/blob/main/data/processed/spacex_web_scraped.csv</a:t>
            </a: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F9B6EE8A-5FED-9483-1B45-D5C9D49127C1}"/>
              </a:ext>
            </a:extLst>
          </p:cNvPr>
          <p:cNvSpPr txBox="1">
            <a:spLocks/>
          </p:cNvSpPr>
          <p:nvPr/>
        </p:nvSpPr>
        <p:spPr>
          <a:xfrm>
            <a:off x="1402464" y="1508646"/>
            <a:ext cx="4317539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Raw Falcon 9 launch data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35D799B-1A6B-CF33-2630-6A4E3CC7E54E}"/>
              </a:ext>
            </a:extLst>
          </p:cNvPr>
          <p:cNvSpPr txBox="1">
            <a:spLocks/>
          </p:cNvSpPr>
          <p:nvPr/>
        </p:nvSpPr>
        <p:spPr>
          <a:xfrm>
            <a:off x="1402463" y="2051723"/>
            <a:ext cx="4317540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Review missing values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AE1A872-4C18-764E-E713-91A858E3A92C}"/>
              </a:ext>
            </a:extLst>
          </p:cNvPr>
          <p:cNvSpPr txBox="1">
            <a:spLocks/>
          </p:cNvSpPr>
          <p:nvPr/>
        </p:nvSpPr>
        <p:spPr>
          <a:xfrm>
            <a:off x="1402461" y="2602460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Analyze landing outcomes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E5B7FFE-E742-FF99-7527-D67225778620}"/>
              </a:ext>
            </a:extLst>
          </p:cNvPr>
          <p:cNvSpPr txBox="1">
            <a:spLocks/>
          </p:cNvSpPr>
          <p:nvPr/>
        </p:nvSpPr>
        <p:spPr>
          <a:xfrm>
            <a:off x="1402461" y="3148135"/>
            <a:ext cx="4317541" cy="7739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Map outcomes to binary target</a:t>
            </a:r>
          </a:p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Class = 1 / Class = 0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E9D9A7E-749F-507D-CA5D-63BED060C97E}"/>
              </a:ext>
            </a:extLst>
          </p:cNvPr>
          <p:cNvSpPr txBox="1">
            <a:spLocks/>
          </p:cNvSpPr>
          <p:nvPr/>
        </p:nvSpPr>
        <p:spPr>
          <a:xfrm>
            <a:off x="1402461" y="4077446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Feature preparation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7D6EA5C3-2719-04A2-95CD-A3F0032BCE18}"/>
              </a:ext>
            </a:extLst>
          </p:cNvPr>
          <p:cNvSpPr txBox="1">
            <a:spLocks/>
          </p:cNvSpPr>
          <p:nvPr/>
        </p:nvSpPr>
        <p:spPr>
          <a:xfrm>
            <a:off x="1402460" y="4625585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90 launches x 18 columns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F9398BE-A0E9-CF2F-D441-DC479A593522}"/>
              </a:ext>
            </a:extLst>
          </p:cNvPr>
          <p:cNvSpPr txBox="1">
            <a:spLocks/>
          </p:cNvSpPr>
          <p:nvPr/>
        </p:nvSpPr>
        <p:spPr>
          <a:xfrm>
            <a:off x="1402460" y="5168662"/>
            <a:ext cx="4317541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00"/>
              </a:spcBef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dataset_part_2.csv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62CEF0-6BCB-FD14-C4B8-ABE1868683D9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3561233" y="1898939"/>
            <a:ext cx="1" cy="1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239E53-3F29-5BF3-BEB4-34BA8C10F0FE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3561232" y="2442016"/>
            <a:ext cx="1" cy="160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5EAD2D-8B78-2CCF-1BC8-DE4AA64817C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561232" y="2992753"/>
            <a:ext cx="0" cy="155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29488B-D8FE-DBD1-D78C-D870DD49BF33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561232" y="3922064"/>
            <a:ext cx="0" cy="155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408C7B-3278-88AE-1904-6E101B787BC6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3561231" y="4467739"/>
            <a:ext cx="1" cy="15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62B89B-62DF-BD23-217C-DACE47F1A39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561231" y="5015878"/>
            <a:ext cx="0" cy="1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DC0CBE21-54EA-84CA-46F9-04FA45E1CC10}"/>
              </a:ext>
            </a:extLst>
          </p:cNvPr>
          <p:cNvSpPr txBox="1">
            <a:spLocks/>
          </p:cNvSpPr>
          <p:nvPr/>
        </p:nvSpPr>
        <p:spPr>
          <a:xfrm>
            <a:off x="6340443" y="3148135"/>
            <a:ext cx="2743201" cy="7739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Class = 1 -&gt; successful landing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Class = 0 -&gt; unsuccessful / no successful return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D453B6CF-F7C4-3DAE-79AF-4237F5B5D1A7}"/>
              </a:ext>
            </a:extLst>
          </p:cNvPr>
          <p:cNvSpPr/>
          <p:nvPr/>
        </p:nvSpPr>
        <p:spPr>
          <a:xfrm>
            <a:off x="5851558" y="3428987"/>
            <a:ext cx="353746" cy="2552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37CAE80-242A-D984-299D-DF55A3184F48}"/>
              </a:ext>
            </a:extLst>
          </p:cNvPr>
          <p:cNvSpPr txBox="1">
            <a:spLocks/>
          </p:cNvSpPr>
          <p:nvPr/>
        </p:nvSpPr>
        <p:spPr>
          <a:xfrm>
            <a:off x="1402460" y="5826046"/>
            <a:ext cx="8575846" cy="549049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wrangling transformed raw launch records into a structured dataset with binary target variable for EDA and predictive modeling</a:t>
            </a:r>
            <a:endParaRPr lang="en-US" sz="20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413FF40-9591-9FED-FE6E-2CD2AE49D785}"/>
              </a:ext>
            </a:extLst>
          </p:cNvPr>
          <p:cNvSpPr txBox="1">
            <a:spLocks/>
          </p:cNvSpPr>
          <p:nvPr/>
        </p:nvSpPr>
        <p:spPr>
          <a:xfrm>
            <a:off x="7194109" y="4814759"/>
            <a:ext cx="4263863" cy="549049"/>
          </a:xfrm>
          <a:prstGeom prst="rect">
            <a:avLst/>
          </a:prstGeom>
        </p:spPr>
        <p:txBody>
          <a:bodyPr lIns="91440" tIns="45720" rIns="91440" bIns="4572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GitHub: </a:t>
            </a: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https://github.com/agnoevoy/spacex-capstone-project/blob/main/data/processed/dataset_part_2.csv</a:t>
            </a: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88E022F-7076-F0C2-B5CD-91CF68D6E13C}"/>
              </a:ext>
            </a:extLst>
          </p:cNvPr>
          <p:cNvSpPr txBox="1">
            <a:spLocks/>
          </p:cNvSpPr>
          <p:nvPr/>
        </p:nvSpPr>
        <p:spPr>
          <a:xfrm>
            <a:off x="1115463" y="1414357"/>
            <a:ext cx="6193063" cy="206970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What was analyzed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Flight Number vs Launch Site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Payload Mass vs Launch Site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Success Rate vs Orbit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Flight Number vs Orbit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Payload Mass vs Orbit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Yearly Landing Success Trend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33314A35-B68B-4D25-51F8-0FBB3829943E}"/>
              </a:ext>
            </a:extLst>
          </p:cNvPr>
          <p:cNvSpPr txBox="1">
            <a:spLocks/>
          </p:cNvSpPr>
          <p:nvPr/>
        </p:nvSpPr>
        <p:spPr>
          <a:xfrm>
            <a:off x="1115462" y="3709257"/>
            <a:ext cx="6193063" cy="9294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Why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Visual EDA was used to identify relationships between launch characteristics and first-stage landing success.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19F398D3-B0E7-7DDD-1CCB-857094FCBE11}"/>
              </a:ext>
            </a:extLst>
          </p:cNvPr>
          <p:cNvSpPr txBox="1">
            <a:spLocks/>
          </p:cNvSpPr>
          <p:nvPr/>
        </p:nvSpPr>
        <p:spPr>
          <a:xfrm>
            <a:off x="1115462" y="4863937"/>
            <a:ext cx="6193063" cy="12416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Key analytical focus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Separate observed patterns from causal conclusions. Flight Number primarily acts as a proxy for time, technological evolution, and operational experience.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7FD837B-AE07-B530-63C7-AD7043458B4D}"/>
              </a:ext>
            </a:extLst>
          </p:cNvPr>
          <p:cNvSpPr txBox="1">
            <a:spLocks/>
          </p:cNvSpPr>
          <p:nvPr/>
        </p:nvSpPr>
        <p:spPr>
          <a:xfrm>
            <a:off x="7788135" y="4863937"/>
            <a:ext cx="3772017" cy="549049"/>
          </a:xfrm>
          <a:prstGeom prst="rect">
            <a:avLst/>
          </a:prstGeom>
        </p:spPr>
        <p:txBody>
          <a:bodyPr lIns="91440" tIns="45720" rIns="91440" bIns="4572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GitHub: </a:t>
            </a: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https://github.com/agnoevoy/spacex-capstone-project/blob/main/notebooks/05_EDA_dataviz.ipynb</a:t>
            </a: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9940328-E965-B5D4-46A1-2A44C7A5FD82}"/>
              </a:ext>
            </a:extLst>
          </p:cNvPr>
          <p:cNvSpPr txBox="1">
            <a:spLocks/>
          </p:cNvSpPr>
          <p:nvPr/>
        </p:nvSpPr>
        <p:spPr>
          <a:xfrm>
            <a:off x="785809" y="1688009"/>
            <a:ext cx="2233493" cy="23967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 Sites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Unique launch sites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Filtering launch sites by name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03D9F-9184-F810-0A8F-FD2E7B827D9C}"/>
              </a:ext>
            </a:extLst>
          </p:cNvPr>
          <p:cNvSpPr txBox="1">
            <a:spLocks/>
          </p:cNvSpPr>
          <p:nvPr/>
        </p:nvSpPr>
        <p:spPr>
          <a:xfrm>
            <a:off x="3382282" y="1688009"/>
            <a:ext cx="2233493" cy="23967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Payload Analysis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Total payload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Average payload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Maximum payload boosters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18CC11B-7EB2-087A-1ADA-9232C3AC82F6}"/>
              </a:ext>
            </a:extLst>
          </p:cNvPr>
          <p:cNvSpPr txBox="1">
            <a:spLocks/>
          </p:cNvSpPr>
          <p:nvPr/>
        </p:nvSpPr>
        <p:spPr>
          <a:xfrm>
            <a:off x="5978755" y="1688009"/>
            <a:ext cx="2233493" cy="23967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Landing Analysis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First successful ground landing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Successful drone ship landing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Failed landing outcomes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4BFC5EF-CFBD-D171-92F2-4EE43819B92E}"/>
              </a:ext>
            </a:extLst>
          </p:cNvPr>
          <p:cNvSpPr txBox="1">
            <a:spLocks/>
          </p:cNvSpPr>
          <p:nvPr/>
        </p:nvSpPr>
        <p:spPr>
          <a:xfrm>
            <a:off x="8575228" y="1688009"/>
            <a:ext cx="2233493" cy="23967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Outcome Analysis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Mission outcome counts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Ranking landing outcomes by period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676384-FC1B-133E-A3F2-2B3BA50F6388}"/>
              </a:ext>
            </a:extLst>
          </p:cNvPr>
          <p:cNvSpPr txBox="1">
            <a:spLocks/>
          </p:cNvSpPr>
          <p:nvPr/>
        </p:nvSpPr>
        <p:spPr>
          <a:xfrm>
            <a:off x="770011" y="4506119"/>
            <a:ext cx="10038710" cy="549049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SQL was used to query, aggregate, filter and rank SpaceX launch and landing records.</a:t>
            </a:r>
            <a:endParaRPr lang="en-US" sz="20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9E1B81-5BCD-AA80-A5D7-0A49A12CB80F}"/>
              </a:ext>
            </a:extLst>
          </p:cNvPr>
          <p:cNvSpPr txBox="1">
            <a:spLocks/>
          </p:cNvSpPr>
          <p:nvPr/>
        </p:nvSpPr>
        <p:spPr>
          <a:xfrm>
            <a:off x="770011" y="5169991"/>
            <a:ext cx="3772017" cy="549049"/>
          </a:xfrm>
          <a:prstGeom prst="rect">
            <a:avLst/>
          </a:prstGeom>
        </p:spPr>
        <p:txBody>
          <a:bodyPr lIns="91440" tIns="45720" rIns="91440" bIns="4572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GitHub: </a:t>
            </a: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https://github.com/agnoevoy/spacex-capstone-project/blob/main/notebooks/04_EDA_sql_coursera_sqllite.ipynb</a:t>
            </a: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59DA59F-F29D-B1A0-B2FF-4757D88702B9}"/>
              </a:ext>
            </a:extLst>
          </p:cNvPr>
          <p:cNvSpPr txBox="1">
            <a:spLocks/>
          </p:cNvSpPr>
          <p:nvPr/>
        </p:nvSpPr>
        <p:spPr>
          <a:xfrm>
            <a:off x="785809" y="1688009"/>
            <a:ext cx="3465817" cy="21364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Map objects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 site markers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Success / failure markers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Marker clusters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Distance lines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Mouse position tool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F153668-7E87-7844-84B6-402F588B04AD}"/>
              </a:ext>
            </a:extLst>
          </p:cNvPr>
          <p:cNvSpPr txBox="1">
            <a:spLocks/>
          </p:cNvSpPr>
          <p:nvPr/>
        </p:nvSpPr>
        <p:spPr>
          <a:xfrm>
            <a:off x="5555370" y="1688009"/>
            <a:ext cx="3465817" cy="21364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Distance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Coastline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Highway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Railway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Nearby city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39FB126B-1AFA-E03F-1BA7-FD1ACD24227C}"/>
              </a:ext>
            </a:extLst>
          </p:cNvPr>
          <p:cNvSpPr txBox="1">
            <a:spLocks/>
          </p:cNvSpPr>
          <p:nvPr/>
        </p:nvSpPr>
        <p:spPr>
          <a:xfrm>
            <a:off x="785809" y="4424771"/>
            <a:ext cx="8235378" cy="9294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Purpose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mapping was used to explore launch-site locations, landing outcomes and proximity to surrounding infrastructure.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A35DDB2-A16D-456F-CFF0-F8ED4F54835C}"/>
              </a:ext>
            </a:extLst>
          </p:cNvPr>
          <p:cNvSpPr txBox="1">
            <a:spLocks/>
          </p:cNvSpPr>
          <p:nvPr/>
        </p:nvSpPr>
        <p:spPr>
          <a:xfrm>
            <a:off x="734028" y="5677343"/>
            <a:ext cx="3772017" cy="549049"/>
          </a:xfrm>
          <a:prstGeom prst="rect">
            <a:avLst/>
          </a:prstGeom>
        </p:spPr>
        <p:txBody>
          <a:bodyPr lIns="91440" tIns="45720" rIns="91440" bIns="4572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GitHub: </a:t>
            </a: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https://github.com/agnoevoy/spacex-capstone-project/blob/main/notebooks/06_Launch_site_location.ipynb</a:t>
            </a: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609EAB8-023A-AC39-F4A5-6D8A827B8FD2}"/>
              </a:ext>
            </a:extLst>
          </p:cNvPr>
          <p:cNvSpPr txBox="1">
            <a:spLocks/>
          </p:cNvSpPr>
          <p:nvPr/>
        </p:nvSpPr>
        <p:spPr>
          <a:xfrm>
            <a:off x="785809" y="1688009"/>
            <a:ext cx="3465817" cy="21364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components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 Site dropdown.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Payload </a:t>
            </a: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RangeSlider</a:t>
            </a: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.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743FCAB-ABF6-7325-9858-11EF11D33429}"/>
              </a:ext>
            </a:extLst>
          </p:cNvPr>
          <p:cNvSpPr txBox="1">
            <a:spLocks/>
          </p:cNvSpPr>
          <p:nvPr/>
        </p:nvSpPr>
        <p:spPr>
          <a:xfrm>
            <a:off x="4742647" y="1688009"/>
            <a:ext cx="5843035" cy="21364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Visualizations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Pie chart – successful landing by site for “All Sites”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Pie chart – success vs failure for a selected launch site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plot – Payload Mass vs Landing Outcome, colored by Booster Version Category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01563C3-0723-21D1-1756-4E9A2E38F6ED}"/>
              </a:ext>
            </a:extLst>
          </p:cNvPr>
          <p:cNvSpPr txBox="1">
            <a:spLocks/>
          </p:cNvSpPr>
          <p:nvPr/>
        </p:nvSpPr>
        <p:spPr>
          <a:xfrm>
            <a:off x="770011" y="4101765"/>
            <a:ext cx="9815671" cy="13512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Purpose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 dashboard enables interactive exploration of landing outcomes by launch site, payload range and booster version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092E31-73D5-A736-F51E-86164A4976B2}"/>
              </a:ext>
            </a:extLst>
          </p:cNvPr>
          <p:cNvSpPr txBox="1">
            <a:spLocks/>
          </p:cNvSpPr>
          <p:nvPr/>
        </p:nvSpPr>
        <p:spPr>
          <a:xfrm>
            <a:off x="734028" y="5677343"/>
            <a:ext cx="3772017" cy="549049"/>
          </a:xfrm>
          <a:prstGeom prst="rect">
            <a:avLst/>
          </a:prstGeom>
        </p:spPr>
        <p:txBody>
          <a:bodyPr lIns="91440" tIns="45720" rIns="91440" bIns="4572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GitHub: </a:t>
            </a:r>
            <a:r>
              <a:rPr lang="en-US" sz="2000" b="1" dirty="0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https://github.com/agnoevoy/spacex-capstone-project/blob/main/dashboard/07_spacex_dash_app.py</a:t>
            </a:r>
            <a:endParaRPr lang="en-US" sz="2000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EA394B18-0726-00A0-55E4-D4AC75EF92D0}"/>
              </a:ext>
            </a:extLst>
          </p:cNvPr>
          <p:cNvSpPr txBox="1">
            <a:spLocks/>
          </p:cNvSpPr>
          <p:nvPr/>
        </p:nvSpPr>
        <p:spPr>
          <a:xfrm>
            <a:off x="1402464" y="1508646"/>
            <a:ext cx="4317539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Feature Matrix X + Target Y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130162B-86F9-15FA-A5BE-C284CB989882}"/>
              </a:ext>
            </a:extLst>
          </p:cNvPr>
          <p:cNvSpPr txBox="1">
            <a:spLocks/>
          </p:cNvSpPr>
          <p:nvPr/>
        </p:nvSpPr>
        <p:spPr>
          <a:xfrm>
            <a:off x="1402463" y="2051723"/>
            <a:ext cx="4317540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StandartScaler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04A126-E706-5BC2-8BC1-00FE38D4DB45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3561233" y="1898939"/>
            <a:ext cx="1" cy="152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5A9D40F-E4B4-6117-CE8E-300181DFC021}"/>
              </a:ext>
            </a:extLst>
          </p:cNvPr>
          <p:cNvSpPr txBox="1">
            <a:spLocks/>
          </p:cNvSpPr>
          <p:nvPr/>
        </p:nvSpPr>
        <p:spPr>
          <a:xfrm>
            <a:off x="1402463" y="2594800"/>
            <a:ext cx="4317540" cy="390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Train / Test Split (80% / 20%)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4732</TotalTime>
  <Words>1742</Words>
  <Application>Microsoft Macintosh PowerPoint</Application>
  <PresentationFormat>Widescreen</PresentationFormat>
  <Paragraphs>301</Paragraphs>
  <Slides>47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Aleexey Gnoevoy</cp:lastModifiedBy>
  <cp:revision>255</cp:revision>
  <dcterms:created xsi:type="dcterms:W3CDTF">2021-04-29T18:58:34Z</dcterms:created>
  <dcterms:modified xsi:type="dcterms:W3CDTF">2026-08-29T12:24:08Z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